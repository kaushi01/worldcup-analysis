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82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Goals</c:v>
                </c:pt>
              </c:strCache>
            </c:strRef>
          </c:tx>
          <c:spPr>
            <a:solidFill>
              <a:srgbClr val="2A6BA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011-4521-A742-511F26E6B8F2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3011-4521-A742-511F26E6B8F2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3011-4521-A742-511F26E6B8F2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3011-4521-A742-511F26E6B8F2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3011-4521-A742-511F26E6B8F2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3011-4521-A742-511F26E6B8F2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3011-4521-A742-511F26E6B8F2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3011-4521-A742-511F26E6B8F2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3011-4521-A742-511F26E6B8F2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3011-4521-A742-511F26E6B8F2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5-3011-4521-A742-511F26E6B8F2}"/>
              </c:ext>
            </c:extLst>
          </c:dPt>
          <c:dPt>
            <c:idx val="1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7-3011-4521-A742-511F26E6B8F2}"/>
              </c:ext>
            </c:extLst>
          </c:dPt>
          <c:dPt>
            <c:idx val="1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9-3011-4521-A742-511F26E6B8F2}"/>
              </c:ext>
            </c:extLst>
          </c:dPt>
          <c:dPt>
            <c:idx val="1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B-3011-4521-A742-511F26E6B8F2}"/>
              </c:ext>
            </c:extLst>
          </c:dPt>
          <c:dPt>
            <c:idx val="1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D-3011-4521-A742-511F26E6B8F2}"/>
              </c:ext>
            </c:extLst>
          </c:dPt>
          <c:dPt>
            <c:idx val="15"/>
            <c:invertIfNegative val="0"/>
            <c:bubble3D val="0"/>
            <c:spPr>
              <a:solidFill>
                <a:srgbClr val="F5C84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F-3011-4521-A742-511F26E6B8F2}"/>
              </c:ext>
            </c:extLst>
          </c:dPt>
          <c:dPt>
            <c:idx val="1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1-3011-4521-A742-511F26E6B8F2}"/>
              </c:ext>
            </c:extLst>
          </c:dPt>
          <c:dPt>
            <c:idx val="1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3-3011-4521-A742-511F26E6B8F2}"/>
              </c:ext>
            </c:extLst>
          </c:dPt>
          <c:dPt>
            <c:idx val="1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5-3011-4521-A742-511F26E6B8F2}"/>
              </c:ext>
            </c:extLst>
          </c:dPt>
          <c:dPt>
            <c:idx val="1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7-3011-4521-A742-511F26E6B8F2}"/>
              </c:ext>
            </c:extLst>
          </c:dPt>
          <c:cat>
            <c:strRef>
              <c:f>Sheet1!$A$2:$A$21</c:f>
              <c:strCache>
                <c:ptCount val="20"/>
                <c:pt idx="0">
                  <c:v>1930</c:v>
                </c:pt>
                <c:pt idx="1">
                  <c:v>1934</c:v>
                </c:pt>
                <c:pt idx="2">
                  <c:v>1938</c:v>
                </c:pt>
                <c:pt idx="3">
                  <c:v>1950</c:v>
                </c:pt>
                <c:pt idx="4">
                  <c:v>1954</c:v>
                </c:pt>
                <c:pt idx="5">
                  <c:v>1958</c:v>
                </c:pt>
                <c:pt idx="6">
                  <c:v>1962</c:v>
                </c:pt>
                <c:pt idx="7">
                  <c:v>1966</c:v>
                </c:pt>
                <c:pt idx="8">
                  <c:v>1970</c:v>
                </c:pt>
                <c:pt idx="9">
                  <c:v>1974</c:v>
                </c:pt>
                <c:pt idx="10">
                  <c:v>1978</c:v>
                </c:pt>
                <c:pt idx="11">
                  <c:v>1982</c:v>
                </c:pt>
                <c:pt idx="12">
                  <c:v>1986</c:v>
                </c:pt>
                <c:pt idx="13">
                  <c:v>1990</c:v>
                </c:pt>
                <c:pt idx="14">
                  <c:v>1994</c:v>
                </c:pt>
                <c:pt idx="15">
                  <c:v>1998</c:v>
                </c:pt>
                <c:pt idx="16">
                  <c:v>2002</c:v>
                </c:pt>
                <c:pt idx="17">
                  <c:v>2006</c:v>
                </c:pt>
                <c:pt idx="18">
                  <c:v>2010</c:v>
                </c:pt>
                <c:pt idx="19">
                  <c:v>2014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70</c:v>
                </c:pt>
                <c:pt idx="1">
                  <c:v>70</c:v>
                </c:pt>
                <c:pt idx="2">
                  <c:v>84</c:v>
                </c:pt>
                <c:pt idx="3">
                  <c:v>88</c:v>
                </c:pt>
                <c:pt idx="4">
                  <c:v>140</c:v>
                </c:pt>
                <c:pt idx="5">
                  <c:v>126</c:v>
                </c:pt>
                <c:pt idx="6">
                  <c:v>89</c:v>
                </c:pt>
                <c:pt idx="7">
                  <c:v>89</c:v>
                </c:pt>
                <c:pt idx="8">
                  <c:v>95</c:v>
                </c:pt>
                <c:pt idx="9">
                  <c:v>97</c:v>
                </c:pt>
                <c:pt idx="10">
                  <c:v>102</c:v>
                </c:pt>
                <c:pt idx="11">
                  <c:v>146</c:v>
                </c:pt>
                <c:pt idx="12">
                  <c:v>132</c:v>
                </c:pt>
                <c:pt idx="13">
                  <c:v>115</c:v>
                </c:pt>
                <c:pt idx="14">
                  <c:v>141</c:v>
                </c:pt>
                <c:pt idx="15">
                  <c:v>171</c:v>
                </c:pt>
                <c:pt idx="16">
                  <c:v>161</c:v>
                </c:pt>
                <c:pt idx="17">
                  <c:v>147</c:v>
                </c:pt>
                <c:pt idx="18">
                  <c:v>145</c:v>
                </c:pt>
                <c:pt idx="19">
                  <c:v>168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8-3011-4521-A742-511F26E6B8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8C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1A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8C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1628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A162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Goals</c:v>
                </c:pt>
              </c:strCache>
            </c:strRef>
          </c:tx>
          <c:spPr>
            <a:solidFill>
              <a:srgbClr val="F5C84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1EE-4F11-A883-7F120C384F31}"/>
              </c:ext>
            </c:extLst>
          </c:dPt>
          <c:dPt>
            <c:idx val="1"/>
            <c:invertIfNegative val="0"/>
            <c:bubble3D val="0"/>
            <c:spPr>
              <a:solidFill>
                <a:srgbClr val="2A6BA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1EE-4F11-A883-7F120C384F31}"/>
              </c:ext>
            </c:extLst>
          </c:dPt>
          <c:dPt>
            <c:idx val="2"/>
            <c:invertIfNegative val="0"/>
            <c:bubble3D val="0"/>
            <c:spPr>
              <a:solidFill>
                <a:srgbClr val="4A90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1EE-4F11-A883-7F120C384F31}"/>
              </c:ext>
            </c:extLst>
          </c:dPt>
          <c:dPt>
            <c:idx val="3"/>
            <c:invertIfNegative val="0"/>
            <c:bubble3D val="0"/>
            <c:spPr>
              <a:solidFill>
                <a:srgbClr val="1A7A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1EE-4F11-A883-7F120C384F31}"/>
              </c:ext>
            </c:extLst>
          </c:dPt>
          <c:dPt>
            <c:idx val="4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1EE-4F11-A883-7F120C384F3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C3E5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Brazil</c:v>
                </c:pt>
                <c:pt idx="1">
                  <c:v>Argentina</c:v>
                </c:pt>
                <c:pt idx="2">
                  <c:v>Germany FR</c:v>
                </c:pt>
                <c:pt idx="3">
                  <c:v>Italy</c:v>
                </c:pt>
                <c:pt idx="4">
                  <c:v>France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221</c:v>
                </c:pt>
                <c:pt idx="1">
                  <c:v>131</c:v>
                </c:pt>
                <c:pt idx="2">
                  <c:v>131</c:v>
                </c:pt>
                <c:pt idx="3">
                  <c:v>128</c:v>
                </c:pt>
                <c:pt idx="4">
                  <c:v>106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1EE-4F11-A883-7F120C384F3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0DD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8C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0F4F8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Outcomes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5C84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EAD-4320-9618-3F093FD707C4}"/>
              </c:ext>
            </c:extLst>
          </c:dPt>
          <c:dPt>
            <c:idx val="1"/>
            <c:bubble3D val="0"/>
            <c:spPr>
              <a:solidFill>
                <a:srgbClr val="2A6BA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EAD-4320-9618-3F093FD707C4}"/>
              </c:ext>
            </c:extLst>
          </c:dPt>
          <c:dPt>
            <c:idx val="2"/>
            <c:bubble3D val="0"/>
            <c:spPr>
              <a:solidFill>
                <a:srgbClr val="4A4A6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EAD-4320-9618-3F093FD707C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pPr>
                      <a:defRPr sz="1200" b="0" i="0" u="none" strike="noStrike">
                        <a:solidFill>
                          <a:srgbClr val="FFFFFF"/>
                        </a:solidFill>
                        <a:latin typeface="Arial"/>
                      </a:defRPr>
                    </a:pPr>
                    <a:r>
                      <a:rPr lang="en-US" dirty="0"/>
                      <a:t>57%</a:t>
                    </a:r>
                  </a:p>
                </c:rich>
              </c:tx>
              <c:numFmt formatCode="0%" sourceLinked="0"/>
              <c:spPr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4EAD-4320-9618-3F093FD707C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pPr>
                      <a:defRPr sz="1200" b="0" i="0" u="none" strike="noStrike">
                        <a:solidFill>
                          <a:srgbClr val="FFFFFF"/>
                        </a:solidFill>
                        <a:latin typeface="Arial"/>
                      </a:defRPr>
                    </a:pPr>
                    <a:r>
                      <a:rPr lang="en-US" dirty="0"/>
                      <a:t>20%</a:t>
                    </a:r>
                  </a:p>
                </c:rich>
              </c:tx>
              <c:numFmt formatCode="0%" sourceLinked="0"/>
              <c:spPr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4EAD-4320-9618-3F093FD707C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pPr>
                      <a:defRPr sz="1200" b="0" i="0" u="none" strike="noStrike">
                        <a:solidFill>
                          <a:srgbClr val="FFFFFF"/>
                        </a:solidFill>
                        <a:latin typeface="Arial"/>
                      </a:defRPr>
                    </a:pPr>
                    <a:r>
                      <a:rPr lang="en-US" dirty="0"/>
                      <a:t>22%</a:t>
                    </a:r>
                  </a:p>
                </c:rich>
              </c:tx>
              <c:numFmt formatCode="0%" sourceLinked="0"/>
              <c:spPr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4EAD-4320-9618-3F093FD707C4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Home Wins</c:v>
                </c:pt>
                <c:pt idx="1">
                  <c:v>Away Wins</c:v>
                </c:pt>
                <c:pt idx="2">
                  <c:v>Draws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478</c:v>
                </c:pt>
                <c:pt idx="1">
                  <c:v>171</c:v>
                </c:pt>
                <c:pt idx="2">
                  <c:v>186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EAD-4320-9618-3F093FD707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A162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3316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457200"/>
            <a:ext cx="4114800" cy="4114800"/>
          </a:xfrm>
          <a:prstGeom prst="ellipse">
            <a:avLst/>
          </a:prstGeom>
          <a:solidFill>
            <a:srgbClr val="1A3A5C">
              <a:alpha val="30000"/>
            </a:srgbClr>
          </a:solidFill>
          <a:ln w="12700">
            <a:solidFill>
              <a:srgbClr val="1A3A5C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097280"/>
            <a:ext cx="2743200" cy="2743200"/>
          </a:xfrm>
          <a:prstGeom prst="ellipse">
            <a:avLst/>
          </a:prstGeom>
          <a:solidFill>
            <a:srgbClr val="234B73">
              <a:alpha val="40000"/>
            </a:srgbClr>
          </a:solidFill>
          <a:ln w="12700">
            <a:solidFill>
              <a:srgbClr val="234B73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FIFA WORLD CUP  |  1930 – 2014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Historical Match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1664208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48640" y="25603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84 years of goals, wins, attendance &amp; world-class teams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206240"/>
            <a:ext cx="9144000" cy="777240"/>
          </a:xfrm>
          <a:prstGeom prst="rect">
            <a:avLst/>
          </a:prstGeom>
          <a:solidFill>
            <a:srgbClr val="12243F"/>
          </a:solidFill>
          <a:ln w="12700">
            <a:solidFill>
              <a:srgbClr val="1224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22452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835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651760" y="422452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2,376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6517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GOALS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46320" y="422452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84632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040880" y="422452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44,859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0408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ATTENDANCE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Statistics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023360" cy="16916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54864" cy="169164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4300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835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Matches Played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20 World Cups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4023360" cy="16916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05840"/>
            <a:ext cx="54864" cy="169164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14300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2,376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4892040" y="187452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Goals Scored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219456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2.85 per match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926080"/>
            <a:ext cx="4023360" cy="16916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926080"/>
            <a:ext cx="54864" cy="169164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06324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5.38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457200" y="379476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Goals (1954)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11480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Highest-scoring year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926080"/>
            <a:ext cx="4023360" cy="169164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926080"/>
            <a:ext cx="54864" cy="169164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06324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4892040" y="379476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 by Brazil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92040" y="411480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successful nation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Goals Scored Per World Cup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goals by tournament year — growing with expanded formats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097280"/>
          <a:ext cx="841248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583680" y="1188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Peak: 1998 (171 goals)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Teams by Total Goals Scored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914400"/>
          <a:ext cx="512064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005840"/>
            <a:ext cx="365760" cy="59436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760720" y="100584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172200" y="1005840"/>
            <a:ext cx="29260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263640" y="101498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263640" y="130759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221 goals  |  70 wins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760720" y="1773936"/>
            <a:ext cx="365760" cy="594360"/>
          </a:xfrm>
          <a:prstGeom prst="rect">
            <a:avLst/>
          </a:prstGeom>
          <a:solidFill>
            <a:srgbClr val="2A6BAD"/>
          </a:solidFill>
          <a:ln w="12700">
            <a:solidFill>
              <a:srgbClr val="2A6BA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760720" y="1773936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172200" y="1773936"/>
            <a:ext cx="29260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263640" y="1783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Argentina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263640" y="207568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 goals  |  42 wins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760720" y="2542032"/>
            <a:ext cx="365760" cy="5943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760720" y="2542032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6172200" y="2542032"/>
            <a:ext cx="29260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263640" y="255117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 FR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263640" y="284378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 goals  |  36 wins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760720" y="3310128"/>
            <a:ext cx="365760" cy="5943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5760720" y="3310128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6172200" y="3310128"/>
            <a:ext cx="29260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263640" y="33192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Italy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263640" y="36118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goals  |  45 wins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760720" y="4078224"/>
            <a:ext cx="365760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5760720" y="4078224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6172200" y="4078224"/>
            <a:ext cx="29260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263640" y="40873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263640" y="437997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 goals  |  28 wins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 Outcomes &amp; Scoring Insights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matches ended — who scored more and when draws happened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2693459263"/>
              </p:ext>
            </p:extLst>
          </p:nvPr>
        </p:nvGraphicFramePr>
        <p:xfrm>
          <a:off x="365760" y="1051560"/>
          <a:ext cx="438912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029200" y="1005840"/>
            <a:ext cx="3749040" cy="841248"/>
          </a:xfrm>
          <a:prstGeom prst="rect">
            <a:avLst/>
          </a:prstGeom>
          <a:solidFill>
            <a:srgbClr val="12243F"/>
          </a:solidFill>
          <a:ln w="12700">
            <a:solidFill>
              <a:srgbClr val="1A3A5C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029200" y="1005840"/>
            <a:ext cx="45720" cy="84124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166360" y="1042416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8A020"/>
                </a:solidFill>
                <a:latin typeface="Georgia" pitchFamily="34" charset="0"/>
              </a:rPr>
              <a:t>478</a:t>
            </a:r>
          </a:p>
        </p:txBody>
      </p:sp>
      <p:sp>
        <p:nvSpPr>
          <p:cNvPr id="9" name="Text 6"/>
          <p:cNvSpPr/>
          <p:nvPr/>
        </p:nvSpPr>
        <p:spPr>
          <a:xfrm>
            <a:off x="5166360" y="142646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Team Wins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166360" y="162763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57% of all matches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029200" y="1993392"/>
            <a:ext cx="3749040" cy="841248"/>
          </a:xfrm>
          <a:prstGeom prst="rect">
            <a:avLst/>
          </a:prstGeom>
          <a:solidFill>
            <a:srgbClr val="12243F"/>
          </a:solidFill>
          <a:ln w="12700">
            <a:solidFill>
              <a:srgbClr val="1A3A5C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029200" y="1993392"/>
            <a:ext cx="45720" cy="84124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166360" y="202996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8A020"/>
                </a:solidFill>
                <a:latin typeface="Georgia" pitchFamily="34" charset="0"/>
              </a:rPr>
              <a:t>171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5166360" y="241401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Away Team Wins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166360" y="261518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of all matches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029200" y="2980944"/>
            <a:ext cx="3749040" cy="841248"/>
          </a:xfrm>
          <a:prstGeom prst="rect">
            <a:avLst/>
          </a:prstGeom>
          <a:solidFill>
            <a:srgbClr val="12243F"/>
          </a:solidFill>
          <a:ln w="12700">
            <a:solidFill>
              <a:srgbClr val="1A3A5C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029200" y="2980944"/>
            <a:ext cx="45720" cy="84124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166360" y="301752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186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5166360" y="340156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at Full Time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166360" y="360273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of all matches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029200" y="3968496"/>
            <a:ext cx="3749040" cy="841248"/>
          </a:xfrm>
          <a:prstGeom prst="rect">
            <a:avLst/>
          </a:prstGeom>
          <a:solidFill>
            <a:srgbClr val="12243F"/>
          </a:solidFill>
          <a:ln w="12700">
            <a:solidFill>
              <a:srgbClr val="1A3A5C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029200" y="3968496"/>
            <a:ext cx="45720" cy="84124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166360" y="400507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1954</a:t>
            </a:r>
            <a:endParaRPr lang="en-US" sz="2800" dirty="0"/>
          </a:p>
        </p:txBody>
      </p:sp>
      <p:sp>
        <p:nvSpPr>
          <p:cNvPr id="24" name="Text 21"/>
          <p:cNvSpPr/>
          <p:nvPr/>
        </p:nvSpPr>
        <p:spPr>
          <a:xfrm>
            <a:off x="5166360" y="438912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Avg Goals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166360" y="459028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5.38 goals per match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 Analysis — Query Highlights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402336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502920" cy="38404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6012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96012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with Most Goals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435608"/>
            <a:ext cx="3840480" cy="1143000"/>
          </a:xfrm>
          <a:prstGeom prst="rect">
            <a:avLst/>
          </a:prstGeom>
          <a:solidFill>
            <a:srgbClr val="EDF2F7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1490472"/>
            <a:ext cx="370332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Team, SUM(Goals) FROM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(SELECT Home Team Name AS Team,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 Team Goals AS Goals ...) t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Team ORDER BY Total_Goals DESC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60120"/>
            <a:ext cx="402336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960120"/>
            <a:ext cx="502920" cy="38404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96012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Q37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03520" y="96012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Teams by Goals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1435608"/>
            <a:ext cx="3840480" cy="1143000"/>
          </a:xfrm>
          <a:prstGeom prst="rect">
            <a:avLst/>
          </a:prstGeom>
          <a:solidFill>
            <a:srgbClr val="EDF2F7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9472" y="1490472"/>
            <a:ext cx="370332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Team, SUM(Goals) AS Total_Goals,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RANK() OVER (ORDER BY SUM(Goals) DESC)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Goal_Rank FROM (...) t GROUP BY Team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20040" y="288036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880360"/>
            <a:ext cx="402336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880360"/>
            <a:ext cx="502920" cy="38404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88036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Q38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288036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Rank per Year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1480" y="3355848"/>
            <a:ext cx="3840480" cy="1143000"/>
          </a:xfrm>
          <a:prstGeom prst="rect">
            <a:avLst/>
          </a:prstGeom>
          <a:solidFill>
            <a:srgbClr val="EDF2F7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" y="3410712"/>
            <a:ext cx="370332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*, DENSE_RANK() OVER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(PARTITION BY Year ORDER BY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(Home Goals + Away Goals) DESC)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Rank_Goals FROM worldcupmatches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754880" y="288036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880360"/>
            <a:ext cx="402336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2880360"/>
            <a:ext cx="502920" cy="38404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288036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03520" y="288036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Avg Goals Year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46320" y="3355848"/>
            <a:ext cx="3840480" cy="1143000"/>
          </a:xfrm>
          <a:prstGeom prst="rect">
            <a:avLst/>
          </a:prstGeom>
          <a:solidFill>
            <a:srgbClr val="EDF2F7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3410712"/>
            <a:ext cx="370332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Year,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AVG(Home Team Goals + Away Team Goals)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Avg_Goals FROM worldcupmatches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Year ORDER BY Avg_Goals DESC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Data Tells Us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3931920" cy="1417320"/>
          </a:xfrm>
          <a:prstGeom prst="rect">
            <a:avLst/>
          </a:prstGeom>
          <a:solidFill>
            <a:srgbClr val="12243F"/>
          </a:solidFill>
          <a:ln w="12700">
            <a:solidFill>
              <a:srgbClr val="1A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45720" cy="14173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630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⚽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1463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Brazil Dominates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8745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 leads all-time with 221 goals and 70 wins — far ahead of any other nation across 84 years of World Cup history.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926080"/>
            <a:ext cx="3931920" cy="1417320"/>
          </a:xfrm>
          <a:prstGeom prst="rect">
            <a:avLst/>
          </a:prstGeom>
          <a:solidFill>
            <a:srgbClr val="12243F"/>
          </a:solidFill>
          <a:ln w="12700">
            <a:solidFill>
              <a:srgbClr val="1A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926080"/>
            <a:ext cx="45720" cy="14173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0175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60120" y="3017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Growing Tournament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34290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goals rose from 70 in 1930 to 171 in 1998, reflecting the expanding field from 13 to 32 nations and growing match count.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1371600"/>
            <a:ext cx="3931920" cy="1417320"/>
          </a:xfrm>
          <a:prstGeom prst="rect">
            <a:avLst/>
          </a:prstGeom>
          <a:solidFill>
            <a:srgbClr val="12243F"/>
          </a:solidFill>
          <a:ln w="12700">
            <a:solidFill>
              <a:srgbClr val="1A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371600"/>
            <a:ext cx="45720" cy="14173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4630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🏠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349240" y="1463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 Advantage Exists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18745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teams won 50% of matches vs 31% for away teams, suggesting venue familiarity and crowd support provide a real edge.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926080"/>
            <a:ext cx="3931920" cy="1417320"/>
          </a:xfrm>
          <a:prstGeom prst="rect">
            <a:avLst/>
          </a:prstGeom>
          <a:solidFill>
            <a:srgbClr val="12243F"/>
          </a:solidFill>
          <a:ln w="12700">
            <a:solidFill>
              <a:srgbClr val="1A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926080"/>
            <a:ext cx="45720" cy="14173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0175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349240" y="3017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1954 — Most Exciting Year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92040" y="34290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1954 Switzerland World Cup had the highest average of 5.38 goals per match, making it the most prolific tournament ever.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sourced from WorldCupMatches dataset  •  SQL Analysis via MySQL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475</Words>
  <Application>Microsoft Office PowerPoint</Application>
  <PresentationFormat>On-screen Show (16:9)</PresentationFormat>
  <Paragraphs>108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FIFA World Cup Analysis</dc:title>
  <dc:subject>PptxGenJS Presentation</dc:subject>
  <dc:creator>PptxGenJS</dc:creator>
  <cp:lastModifiedBy>Kaushiki Sharma</cp:lastModifiedBy>
  <cp:revision>2</cp:revision>
  <dcterms:created xsi:type="dcterms:W3CDTF">2026-02-27T05:53:40Z</dcterms:created>
  <dcterms:modified xsi:type="dcterms:W3CDTF">2026-02-27T06:06:00Z</dcterms:modified>
</cp:coreProperties>
</file>